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ublic Sans" charset="1" panose="00000000000000000000"/>
      <p:regular r:id="rId23"/>
    </p:embeddedFont>
    <p:embeddedFont>
      <p:font typeface="Public Sans Bold" charset="1" panose="00000000000000000000"/>
      <p:regular r:id="rId24"/>
    </p:embeddedFont>
    <p:embeddedFont>
      <p:font typeface="Public Sans Medium" charset="1" panose="00000000000000000000"/>
      <p:regular r:id="rId25"/>
    </p:embeddedFont>
    <p:embeddedFont>
      <p:font typeface="Open Sauce" charset="1" panose="00000500000000000000"/>
      <p:regular r:id="rId26"/>
    </p:embeddedFont>
    <p:embeddedFont>
      <p:font typeface="Bebas Neue" charset="1" panose="00000500000000000000"/>
      <p:regular r:id="rId27"/>
    </p:embeddedFont>
    <p:embeddedFont>
      <p:font typeface="Bebas Neue Bold" charset="1" panose="020B0606020202050201"/>
      <p:regular r:id="rId28"/>
    </p:embeddedFont>
    <p:embeddedFont>
      <p:font typeface="Inter Bold" charset="1" panose="020B08020300000000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330907" y="9258300"/>
            <a:ext cx="6658294" cy="0"/>
          </a:xfrm>
          <a:prstGeom prst="line">
            <a:avLst/>
          </a:prstGeom>
          <a:ln cap="flat" w="28575">
            <a:solidFill>
              <a:srgbClr val="EDF1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690370" y="1014413"/>
            <a:ext cx="4298830" cy="0"/>
          </a:xfrm>
          <a:prstGeom prst="line">
            <a:avLst/>
          </a:prstGeom>
          <a:ln cap="flat" w="28575">
            <a:solidFill>
              <a:srgbClr val="EDF1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03916" y="3482090"/>
            <a:ext cx="9241843" cy="1340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8"/>
              </a:lnSpc>
            </a:pPr>
            <a:r>
              <a:rPr lang="en-US" sz="10574" spc="-867">
                <a:solidFill>
                  <a:srgbClr val="E9F1ED"/>
                </a:solidFill>
                <a:latin typeface="Public Sans"/>
                <a:ea typeface="Public Sans"/>
                <a:cs typeface="Public Sans"/>
                <a:sym typeface="Public Sans"/>
              </a:rPr>
              <a:t>Carbon Majors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989077"/>
            <a:ext cx="5253734" cy="451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11"/>
              </a:lnSpc>
              <a:spcBef>
                <a:spcPct val="0"/>
              </a:spcBef>
            </a:pPr>
            <a:r>
              <a:rPr lang="en-US" sz="3911" spc="-320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Global Industrial Emissions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3916" y="8486942"/>
            <a:ext cx="5853982" cy="425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2"/>
              </a:lnSpc>
              <a:spcBef>
                <a:spcPct val="0"/>
              </a:spcBef>
            </a:pPr>
            <a:r>
              <a:rPr lang="en-US" sz="3795" spc="-311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Done by :  Hussain Alshaway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12807" y="0"/>
            <a:ext cx="7375193" cy="10287000"/>
            <a:chOff x="0" y="0"/>
            <a:chExt cx="9833591" cy="1371600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2"/>
            <a:srcRect l="13784" t="7936" r="3710" b="0"/>
            <a:stretch>
              <a:fillRect/>
            </a:stretch>
          </p:blipFill>
          <p:spPr>
            <a:xfrm flipH="false" flipV="false">
              <a:off x="0" y="0"/>
              <a:ext cx="9833591" cy="13716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806383" y="283433"/>
            <a:ext cx="3231981" cy="3323374"/>
          </a:xfrm>
          <a:custGeom>
            <a:avLst/>
            <a:gdLst/>
            <a:ahLst/>
            <a:cxnLst/>
            <a:rect r="r" b="b" t="t" l="l"/>
            <a:pathLst>
              <a:path h="3323374" w="3231981">
                <a:moveTo>
                  <a:pt x="0" y="0"/>
                </a:moveTo>
                <a:lnTo>
                  <a:pt x="3231982" y="0"/>
                </a:lnTo>
                <a:lnTo>
                  <a:pt x="3231982" y="3323374"/>
                </a:lnTo>
                <a:lnTo>
                  <a:pt x="0" y="332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7937493"/>
            <a:ext cx="5443960" cy="1395015"/>
          </a:xfrm>
          <a:custGeom>
            <a:avLst/>
            <a:gdLst/>
            <a:ahLst/>
            <a:cxnLst/>
            <a:rect r="r" b="b" t="t" l="l"/>
            <a:pathLst>
              <a:path h="1395015" w="5443960">
                <a:moveTo>
                  <a:pt x="0" y="0"/>
                </a:moveTo>
                <a:lnTo>
                  <a:pt x="5443960" y="0"/>
                </a:lnTo>
                <a:lnTo>
                  <a:pt x="5443960" y="1395015"/>
                </a:lnTo>
                <a:lnTo>
                  <a:pt x="0" y="1395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000" y="1102908"/>
            <a:ext cx="15240000" cy="8229600"/>
          </a:xfrm>
          <a:custGeom>
            <a:avLst/>
            <a:gdLst/>
            <a:ahLst/>
            <a:cxnLst/>
            <a:rect r="r" b="b" t="t" l="l"/>
            <a:pathLst>
              <a:path h="8229600" w="15240000">
                <a:moveTo>
                  <a:pt x="0" y="0"/>
                </a:moveTo>
                <a:lnTo>
                  <a:pt x="15240000" y="0"/>
                </a:lnTo>
                <a:lnTo>
                  <a:pt x="15240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4000" y="3540132"/>
            <a:ext cx="13636067" cy="407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93"/>
              </a:lnSpc>
            </a:pPr>
            <a:r>
              <a:rPr lang="en-US" b="true" sz="3995" spc="239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This dataset is important because it provides a reliable basis for analyzing how emissions change over time, which essential for understanding trends, identifying emerging risks, and guiding better environmental decisions</a:t>
            </a:r>
          </a:p>
          <a:p>
            <a:pPr algn="just" marL="0" indent="0" lvl="0">
              <a:lnSpc>
                <a:spcPts val="5393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1513129"/>
            <a:ext cx="14220550" cy="136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10499" spc="-860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2882" y="0"/>
            <a:ext cx="5795118" cy="10287000"/>
          </a:xfrm>
          <a:custGeom>
            <a:avLst/>
            <a:gdLst/>
            <a:ahLst/>
            <a:cxnLst/>
            <a:rect r="r" b="b" t="t" l="l"/>
            <a:pathLst>
              <a:path h="10287000" w="5795118">
                <a:moveTo>
                  <a:pt x="0" y="0"/>
                </a:moveTo>
                <a:lnTo>
                  <a:pt x="5795118" y="0"/>
                </a:lnTo>
                <a:lnTo>
                  <a:pt x="57951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019" t="0" r="-62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2079" y="4859091"/>
            <a:ext cx="4865575" cy="5203824"/>
          </a:xfrm>
          <a:custGeom>
            <a:avLst/>
            <a:gdLst/>
            <a:ahLst/>
            <a:cxnLst/>
            <a:rect r="r" b="b" t="t" l="l"/>
            <a:pathLst>
              <a:path h="5203824" w="4865575">
                <a:moveTo>
                  <a:pt x="0" y="0"/>
                </a:moveTo>
                <a:lnTo>
                  <a:pt x="4865575" y="0"/>
                </a:lnTo>
                <a:lnTo>
                  <a:pt x="4865575" y="5203824"/>
                </a:lnTo>
                <a:lnTo>
                  <a:pt x="0" y="5203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38833" y="1428161"/>
            <a:ext cx="14220550" cy="136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10499" spc="-860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2006" y="2729258"/>
            <a:ext cx="10518872" cy="337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</a:pPr>
            <a:r>
              <a:rPr lang="en-US" b="true" sz="3999" spc="239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The global emissions from major industries increased by about 4628% since 1950, driven by production expansion </a:t>
            </a:r>
          </a:p>
          <a:p>
            <a:pPr algn="ctr" marL="0" indent="0" lvl="0">
              <a:lnSpc>
                <a:spcPts val="53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20724" y="5759786"/>
            <a:ext cx="0" cy="3498514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3719919" y="5759786"/>
            <a:ext cx="0" cy="3498514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6191873" y="5759786"/>
            <a:ext cx="0" cy="3498514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871212" y="5759786"/>
            <a:ext cx="0" cy="3498514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048531" y="6265473"/>
            <a:ext cx="1709160" cy="2081520"/>
          </a:xfrm>
          <a:custGeom>
            <a:avLst/>
            <a:gdLst/>
            <a:ahLst/>
            <a:cxnLst/>
            <a:rect r="r" b="b" t="t" l="l"/>
            <a:pathLst>
              <a:path h="2081520" w="1709160">
                <a:moveTo>
                  <a:pt x="0" y="0"/>
                </a:moveTo>
                <a:lnTo>
                  <a:pt x="1709161" y="0"/>
                </a:lnTo>
                <a:lnTo>
                  <a:pt x="1709161" y="2081519"/>
                </a:lnTo>
                <a:lnTo>
                  <a:pt x="0" y="2081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36" t="0" r="-37699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3112" y="6265473"/>
            <a:ext cx="2613445" cy="2081520"/>
          </a:xfrm>
          <a:custGeom>
            <a:avLst/>
            <a:gdLst/>
            <a:ahLst/>
            <a:cxnLst/>
            <a:rect r="r" b="b" t="t" l="l"/>
            <a:pathLst>
              <a:path h="2081520" w="2613445">
                <a:moveTo>
                  <a:pt x="0" y="0"/>
                </a:moveTo>
                <a:lnTo>
                  <a:pt x="2613445" y="0"/>
                </a:lnTo>
                <a:lnTo>
                  <a:pt x="2613445" y="2081519"/>
                </a:lnTo>
                <a:lnTo>
                  <a:pt x="0" y="2081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84" t="-5698" r="0" b="-614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20485" y="6265473"/>
            <a:ext cx="1917340" cy="2081520"/>
          </a:xfrm>
          <a:custGeom>
            <a:avLst/>
            <a:gdLst/>
            <a:ahLst/>
            <a:cxnLst/>
            <a:rect r="r" b="b" t="t" l="l"/>
            <a:pathLst>
              <a:path h="2081520" w="1917340">
                <a:moveTo>
                  <a:pt x="0" y="0"/>
                </a:moveTo>
                <a:lnTo>
                  <a:pt x="1917340" y="0"/>
                </a:lnTo>
                <a:lnTo>
                  <a:pt x="1917340" y="2081519"/>
                </a:lnTo>
                <a:lnTo>
                  <a:pt x="0" y="2081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728" t="0" r="-18483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3683446" y="5759786"/>
            <a:ext cx="0" cy="3498514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012059" y="6265473"/>
            <a:ext cx="3833353" cy="2081520"/>
          </a:xfrm>
          <a:custGeom>
            <a:avLst/>
            <a:gdLst/>
            <a:ahLst/>
            <a:cxnLst/>
            <a:rect r="r" b="b" t="t" l="l"/>
            <a:pathLst>
              <a:path h="2081520" w="3833353">
                <a:moveTo>
                  <a:pt x="0" y="0"/>
                </a:moveTo>
                <a:lnTo>
                  <a:pt x="3833353" y="0"/>
                </a:lnTo>
                <a:lnTo>
                  <a:pt x="3833353" y="2081519"/>
                </a:lnTo>
                <a:lnTo>
                  <a:pt x="0" y="2081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966" t="0" r="-6966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99825" y="6265473"/>
            <a:ext cx="4155009" cy="2081520"/>
          </a:xfrm>
          <a:custGeom>
            <a:avLst/>
            <a:gdLst/>
            <a:ahLst/>
            <a:cxnLst/>
            <a:rect r="r" b="b" t="t" l="l"/>
            <a:pathLst>
              <a:path h="2081520" w="4155009">
                <a:moveTo>
                  <a:pt x="0" y="0"/>
                </a:moveTo>
                <a:lnTo>
                  <a:pt x="4155009" y="0"/>
                </a:lnTo>
                <a:lnTo>
                  <a:pt x="4155009" y="2081519"/>
                </a:lnTo>
                <a:lnTo>
                  <a:pt x="0" y="20815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9714" r="0" b="-3576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872818" y="9017652"/>
            <a:ext cx="1386482" cy="240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42">
                <a:solidFill>
                  <a:srgbClr val="737373"/>
                </a:solidFill>
                <a:latin typeface="Open Sauce"/>
                <a:ea typeface="Open Sauce"/>
                <a:cs typeface="Open Sauce"/>
                <a:sym typeface="Open Sauce"/>
              </a:rPr>
              <a:t>Page 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2129" y="521972"/>
            <a:ext cx="11335354" cy="194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39"/>
              </a:lnSpc>
            </a:pPr>
            <a:r>
              <a:rPr lang="en-US" sz="17552" spc="-87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Key dimensions of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01057" y="2542274"/>
            <a:ext cx="12079475" cy="1942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339"/>
              </a:lnSpc>
            </a:pPr>
            <a:r>
              <a:rPr lang="en-US" b="true" sz="17552" spc="-87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Carbon Emissions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0" y="1102908"/>
            <a:ext cx="15240000" cy="8229600"/>
          </a:xfrm>
          <a:custGeom>
            <a:avLst/>
            <a:gdLst/>
            <a:ahLst/>
            <a:cxnLst/>
            <a:rect r="r" b="b" t="t" l="l"/>
            <a:pathLst>
              <a:path h="8229600" w="15240000">
                <a:moveTo>
                  <a:pt x="0" y="0"/>
                </a:moveTo>
                <a:lnTo>
                  <a:pt x="15240000" y="0"/>
                </a:lnTo>
                <a:lnTo>
                  <a:pt x="15240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47328" y="452482"/>
            <a:ext cx="3994445" cy="3260466"/>
          </a:xfrm>
          <a:custGeom>
            <a:avLst/>
            <a:gdLst/>
            <a:ahLst/>
            <a:cxnLst/>
            <a:rect r="r" b="b" t="t" l="l"/>
            <a:pathLst>
              <a:path h="3260466" w="3994445">
                <a:moveTo>
                  <a:pt x="0" y="0"/>
                </a:moveTo>
                <a:lnTo>
                  <a:pt x="3994445" y="0"/>
                </a:lnTo>
                <a:lnTo>
                  <a:pt x="3994445" y="3260466"/>
                </a:lnTo>
                <a:lnTo>
                  <a:pt x="0" y="3260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823751"/>
            <a:ext cx="13737899" cy="616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2"/>
              </a:lnSpc>
            </a:pPr>
            <a:r>
              <a:rPr lang="en-US" b="true" sz="3624" spc="217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1- To highlight where the highest contributions come from and why certain entities impact the environment more than others</a:t>
            </a:r>
          </a:p>
          <a:p>
            <a:pPr algn="just">
              <a:lnSpc>
                <a:spcPts val="4892"/>
              </a:lnSpc>
            </a:pPr>
          </a:p>
          <a:p>
            <a:pPr algn="just">
              <a:lnSpc>
                <a:spcPts val="4892"/>
              </a:lnSpc>
            </a:pPr>
            <a:r>
              <a:rPr lang="en-US" b="true" sz="3624" spc="217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2- To see how ownership structures might influence emission performance</a:t>
            </a:r>
          </a:p>
          <a:p>
            <a:pPr algn="just">
              <a:lnSpc>
                <a:spcPts val="4892"/>
              </a:lnSpc>
            </a:pPr>
          </a:p>
          <a:p>
            <a:pPr algn="just">
              <a:lnSpc>
                <a:spcPts val="4892"/>
              </a:lnSpc>
            </a:pPr>
            <a:r>
              <a:rPr lang="en-US" b="true" sz="3624" spc="217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3- To identify the worst entities in operation</a:t>
            </a:r>
          </a:p>
          <a:p>
            <a:pPr algn="just">
              <a:lnSpc>
                <a:spcPts val="4892"/>
              </a:lnSpc>
            </a:pPr>
          </a:p>
          <a:p>
            <a:pPr algn="just" marL="0" indent="0" lvl="0">
              <a:lnSpc>
                <a:spcPts val="489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24000" y="1513129"/>
            <a:ext cx="14220550" cy="1367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9"/>
              </a:lnSpc>
            </a:pPr>
            <a:r>
              <a:rPr lang="en-US" b="true" sz="10499" spc="-860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275" y="1674975"/>
            <a:ext cx="12282103" cy="8612025"/>
          </a:xfrm>
          <a:custGeom>
            <a:avLst/>
            <a:gdLst/>
            <a:ahLst/>
            <a:cxnLst/>
            <a:rect r="r" b="b" t="t" l="l"/>
            <a:pathLst>
              <a:path h="8612025" w="12282103">
                <a:moveTo>
                  <a:pt x="0" y="0"/>
                </a:moveTo>
                <a:lnTo>
                  <a:pt x="12282103" y="0"/>
                </a:lnTo>
                <a:lnTo>
                  <a:pt x="12282103" y="8612025"/>
                </a:lnTo>
                <a:lnTo>
                  <a:pt x="0" y="8612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" r="-8758" b="-1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004650" y="5980988"/>
            <a:ext cx="6010132" cy="3825467"/>
          </a:xfrm>
          <a:custGeom>
            <a:avLst/>
            <a:gdLst/>
            <a:ahLst/>
            <a:cxnLst/>
            <a:rect r="r" b="b" t="t" l="l"/>
            <a:pathLst>
              <a:path h="3825467" w="6010132">
                <a:moveTo>
                  <a:pt x="0" y="0"/>
                </a:moveTo>
                <a:lnTo>
                  <a:pt x="6010131" y="0"/>
                </a:lnTo>
                <a:lnTo>
                  <a:pt x="6010131" y="3825467"/>
                </a:lnTo>
                <a:lnTo>
                  <a:pt x="0" y="38254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4620"/>
            <a:ext cx="14268572" cy="140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557" spc="-455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How do the total emissions change over time?</a:t>
            </a:r>
          </a:p>
          <a:p>
            <a:pPr algn="l">
              <a:lnSpc>
                <a:spcPts val="533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1879" y="1429058"/>
            <a:ext cx="13702976" cy="8857942"/>
          </a:xfrm>
          <a:custGeom>
            <a:avLst/>
            <a:gdLst/>
            <a:ahLst/>
            <a:cxnLst/>
            <a:rect r="r" b="b" t="t" l="l"/>
            <a:pathLst>
              <a:path h="8857942" w="13702976">
                <a:moveTo>
                  <a:pt x="0" y="0"/>
                </a:moveTo>
                <a:lnTo>
                  <a:pt x="13702977" y="0"/>
                </a:lnTo>
                <a:lnTo>
                  <a:pt x="13702977" y="8857942"/>
                </a:lnTo>
                <a:lnTo>
                  <a:pt x="0" y="8857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5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72083" y="258972"/>
            <a:ext cx="12062517" cy="1691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6"/>
              </a:lnSpc>
            </a:pPr>
            <a:r>
              <a:rPr lang="en-US" b="true" sz="6757" spc="-554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How Ownership Shapes the Trend?</a:t>
            </a:r>
          </a:p>
          <a:p>
            <a:pPr algn="ctr">
              <a:lnSpc>
                <a:spcPts val="648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445" y="1028700"/>
            <a:ext cx="17787111" cy="8669272"/>
          </a:xfrm>
          <a:custGeom>
            <a:avLst/>
            <a:gdLst/>
            <a:ahLst/>
            <a:cxnLst/>
            <a:rect r="r" b="b" t="t" l="l"/>
            <a:pathLst>
              <a:path h="8669272" w="17787111">
                <a:moveTo>
                  <a:pt x="0" y="0"/>
                </a:moveTo>
                <a:lnTo>
                  <a:pt x="17787110" y="0"/>
                </a:lnTo>
                <a:lnTo>
                  <a:pt x="17787110" y="8669272"/>
                </a:lnTo>
                <a:lnTo>
                  <a:pt x="0" y="8669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67" r="0" b="-4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90728" y="383431"/>
            <a:ext cx="10792667" cy="140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557" spc="-455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Nation States Added the Most Carbon</a:t>
            </a:r>
          </a:p>
          <a:p>
            <a:pPr algn="l">
              <a:lnSpc>
                <a:spcPts val="533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3186" y="759569"/>
            <a:ext cx="13761627" cy="9266337"/>
          </a:xfrm>
          <a:custGeom>
            <a:avLst/>
            <a:gdLst/>
            <a:ahLst/>
            <a:cxnLst/>
            <a:rect r="r" b="b" t="t" l="l"/>
            <a:pathLst>
              <a:path h="9266337" w="13761627">
                <a:moveTo>
                  <a:pt x="0" y="0"/>
                </a:moveTo>
                <a:lnTo>
                  <a:pt x="13761628" y="0"/>
                </a:lnTo>
                <a:lnTo>
                  <a:pt x="13761628" y="9266338"/>
                </a:lnTo>
                <a:lnTo>
                  <a:pt x="0" y="9266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8" r="0" b="-76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2547" y="114300"/>
            <a:ext cx="16885453" cy="140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557" spc="-455">
                <a:solidFill>
                  <a:srgbClr val="EDF1EF"/>
                </a:solidFill>
                <a:latin typeface="Public Sans"/>
                <a:ea typeface="Public Sans"/>
                <a:cs typeface="Public Sans"/>
                <a:sym typeface="Public Sans"/>
              </a:rPr>
              <a:t>Total Emissions Don’t tell the Full Story—Or Do They?</a:t>
            </a:r>
          </a:p>
          <a:p>
            <a:pPr algn="l">
              <a:lnSpc>
                <a:spcPts val="5334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665" y="2604356"/>
            <a:ext cx="17224670" cy="6233384"/>
          </a:xfrm>
          <a:custGeom>
            <a:avLst/>
            <a:gdLst/>
            <a:ahLst/>
            <a:cxnLst/>
            <a:rect r="r" b="b" t="t" l="l"/>
            <a:pathLst>
              <a:path h="6233384" w="17224670">
                <a:moveTo>
                  <a:pt x="0" y="0"/>
                </a:moveTo>
                <a:lnTo>
                  <a:pt x="17224670" y="0"/>
                </a:lnTo>
                <a:lnTo>
                  <a:pt x="17224670" y="6233384"/>
                </a:lnTo>
                <a:lnTo>
                  <a:pt x="0" y="62333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4881" y="383431"/>
            <a:ext cx="17463119" cy="140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b="true" sz="5557" spc="-455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Oil , NGL s, and natural gas  contributed the most in product emissions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6081" y="1028700"/>
            <a:ext cx="14172611" cy="8891800"/>
          </a:xfrm>
          <a:custGeom>
            <a:avLst/>
            <a:gdLst/>
            <a:ahLst/>
            <a:cxnLst/>
            <a:rect r="r" b="b" t="t" l="l"/>
            <a:pathLst>
              <a:path h="8891800" w="14172611">
                <a:moveTo>
                  <a:pt x="0" y="0"/>
                </a:moveTo>
                <a:lnTo>
                  <a:pt x="14172612" y="0"/>
                </a:lnTo>
                <a:lnTo>
                  <a:pt x="14172612" y="8891800"/>
                </a:lnTo>
                <a:lnTo>
                  <a:pt x="0" y="8891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4881" y="383431"/>
            <a:ext cx="17463119" cy="1407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</a:pPr>
            <a:r>
              <a:rPr lang="en-US" sz="5557" spc="-455" b="true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Cutting Out the Market: Which Entity Emits Most at Source?</a:t>
            </a:r>
          </a:p>
          <a:p>
            <a:pPr algn="l">
              <a:lnSpc>
                <a:spcPts val="5334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465" y="2907859"/>
            <a:ext cx="7766521" cy="6847941"/>
          </a:xfrm>
          <a:custGeom>
            <a:avLst/>
            <a:gdLst/>
            <a:ahLst/>
            <a:cxnLst/>
            <a:rect r="r" b="b" t="t" l="l"/>
            <a:pathLst>
              <a:path h="6847941" w="7766521">
                <a:moveTo>
                  <a:pt x="0" y="0"/>
                </a:moveTo>
                <a:lnTo>
                  <a:pt x="7766520" y="0"/>
                </a:lnTo>
                <a:lnTo>
                  <a:pt x="7766520" y="6847941"/>
                </a:lnTo>
                <a:lnTo>
                  <a:pt x="0" y="6847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588" t="0" r="-33909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56750" y="2907859"/>
            <a:ext cx="10146311" cy="6847941"/>
          </a:xfrm>
          <a:custGeom>
            <a:avLst/>
            <a:gdLst/>
            <a:ahLst/>
            <a:cxnLst/>
            <a:rect r="r" b="b" t="t" l="l"/>
            <a:pathLst>
              <a:path h="6847941" w="10146311">
                <a:moveTo>
                  <a:pt x="0" y="0"/>
                </a:moveTo>
                <a:lnTo>
                  <a:pt x="10146311" y="0"/>
                </a:lnTo>
                <a:lnTo>
                  <a:pt x="10146311" y="6847941"/>
                </a:lnTo>
                <a:lnTo>
                  <a:pt x="0" y="68479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474" t="0" r="-1533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2700000">
            <a:off x="6668694" y="2194600"/>
            <a:ext cx="3507877" cy="3023152"/>
          </a:xfrm>
          <a:custGeom>
            <a:avLst/>
            <a:gdLst/>
            <a:ahLst/>
            <a:cxnLst/>
            <a:rect r="r" b="b" t="t" l="l"/>
            <a:pathLst>
              <a:path h="3023152" w="3507877">
                <a:moveTo>
                  <a:pt x="0" y="3023152"/>
                </a:moveTo>
                <a:lnTo>
                  <a:pt x="3507877" y="3023152"/>
                </a:lnTo>
                <a:lnTo>
                  <a:pt x="3507877" y="0"/>
                </a:lnTo>
                <a:lnTo>
                  <a:pt x="0" y="0"/>
                </a:lnTo>
                <a:lnTo>
                  <a:pt x="0" y="302315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11342" y="2862214"/>
            <a:ext cx="1696406" cy="1687924"/>
          </a:xfrm>
          <a:custGeom>
            <a:avLst/>
            <a:gdLst/>
            <a:ahLst/>
            <a:cxnLst/>
            <a:rect r="r" b="b" t="t" l="l"/>
            <a:pathLst>
              <a:path h="1687924" w="1696406">
                <a:moveTo>
                  <a:pt x="0" y="0"/>
                </a:moveTo>
                <a:lnTo>
                  <a:pt x="1696406" y="0"/>
                </a:lnTo>
                <a:lnTo>
                  <a:pt x="1696406" y="1687924"/>
                </a:lnTo>
                <a:lnTo>
                  <a:pt x="0" y="16879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24881" y="459631"/>
            <a:ext cx="17463119" cy="112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10"/>
              </a:lnSpc>
            </a:pPr>
            <a:r>
              <a:rPr lang="en-US" b="true" sz="8656" spc="-709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Emission Sources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4633" y="3300828"/>
            <a:ext cx="17398733" cy="6492661"/>
          </a:xfrm>
          <a:custGeom>
            <a:avLst/>
            <a:gdLst/>
            <a:ahLst/>
            <a:cxnLst/>
            <a:rect r="r" b="b" t="t" l="l"/>
            <a:pathLst>
              <a:path h="6492661" w="17398733">
                <a:moveTo>
                  <a:pt x="0" y="0"/>
                </a:moveTo>
                <a:lnTo>
                  <a:pt x="17398734" y="0"/>
                </a:lnTo>
                <a:lnTo>
                  <a:pt x="17398734" y="6492661"/>
                </a:lnTo>
                <a:lnTo>
                  <a:pt x="0" y="6492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23" t="0" r="-1252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9293" y="919720"/>
            <a:ext cx="17463119" cy="794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4"/>
              </a:lnSpc>
            </a:pPr>
            <a:r>
              <a:rPr lang="en-US" b="true" sz="6057" spc="-496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Highest Contributors to Total Emissions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1531" y="3375410"/>
            <a:ext cx="17491444" cy="5158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9"/>
              </a:lnSpc>
            </a:pPr>
            <a:r>
              <a:rPr lang="en-US" sz="3095" spc="185" b="true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1- Total Emissions are rapidly increasing due to industrial growth by both the state and investors</a:t>
            </a:r>
          </a:p>
          <a:p>
            <a:pPr algn="l">
              <a:lnSpc>
                <a:spcPts val="4179"/>
              </a:lnSpc>
            </a:pPr>
          </a:p>
          <a:p>
            <a:pPr algn="l">
              <a:lnSpc>
                <a:spcPts val="4179"/>
              </a:lnSpc>
            </a:pPr>
            <a:r>
              <a:rPr lang="en-US" sz="3095" spc="185" b="true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2- Emission intensity is a good KPI to measure the industrial efficiency </a:t>
            </a:r>
          </a:p>
          <a:p>
            <a:pPr algn="l">
              <a:lnSpc>
                <a:spcPts val="4179"/>
              </a:lnSpc>
            </a:pPr>
          </a:p>
          <a:p>
            <a:pPr algn="l">
              <a:lnSpc>
                <a:spcPts val="4179"/>
              </a:lnSpc>
            </a:pPr>
            <a:r>
              <a:rPr lang="en-US" sz="3095" spc="185" b="true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2- Products emissions is contributing the most to total emissions</a:t>
            </a:r>
          </a:p>
          <a:p>
            <a:pPr algn="l">
              <a:lnSpc>
                <a:spcPts val="4179"/>
              </a:lnSpc>
            </a:pPr>
          </a:p>
          <a:p>
            <a:pPr algn="l">
              <a:lnSpc>
                <a:spcPts val="4179"/>
              </a:lnSpc>
            </a:pPr>
            <a:r>
              <a:rPr lang="en-US" sz="3095" spc="185" b="true">
                <a:solidFill>
                  <a:srgbClr val="EDF1E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4- Usage  of Oil and natural gas caused the highest total emissions </a:t>
            </a:r>
          </a:p>
          <a:p>
            <a:pPr algn="l">
              <a:lnSpc>
                <a:spcPts val="4179"/>
              </a:lnSpc>
            </a:pPr>
          </a:p>
          <a:p>
            <a:pPr algn="l" marL="0" indent="0" lvl="0">
              <a:lnSpc>
                <a:spcPts val="417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188920" y="593178"/>
            <a:ext cx="9849670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 spc="-573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Conclusion &amp; Findings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955451" y="1389147"/>
          <a:ext cx="16303849" cy="8724900"/>
        </p:xfrm>
        <a:graphic>
          <a:graphicData uri="http://schemas.openxmlformats.org/drawingml/2006/table">
            <a:tbl>
              <a:tblPr/>
              <a:tblGrid>
                <a:gridCol w="3291544"/>
                <a:gridCol w="9128708"/>
                <a:gridCol w="3883597"/>
              </a:tblGrid>
              <a:tr h="2181225">
                <a:tc row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BB99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Operation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Only 0.1% of global annual emissions are being captured, so, building carbon Capture plants would be useful to minimize the carbon released to atmosphere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Only 0.1% of global annual emissions are being captured, so, building carbon Capture plants would be useful to minimize the carbon released to atmosphere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5919">
                <a:tc v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BB99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Operation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Usage of infrared cameras, ultrasonic sensors, or settelite to detect leaks of methane in the pipes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Usage of infrared cameras, ultrasonic sensors, or settelite to detect leaks of methane in the pipes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612">
                <a:tc rowSpan="4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BB99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Products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</a:t>
                      </a: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ransition to electric cars that produce zero tailpipe emissions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T</a:t>
                      </a: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ransition to electric cars that produce zero tailpipe emissions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612">
                <a:tc v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BB99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Products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Improve public transport to reduce car dependency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Improve public transport to reduce car dependency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5919">
                <a:tc v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BB99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Products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</a:t>
                      </a: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ncourage smaller cars; SUVs emits 30-40% more CO2 than small cars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</a:t>
                      </a: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ncourage smaller cars; SUVs emits 30-40% more CO2 than small cars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0612">
                <a:tc v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19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999" strike="noStrike" u="none">
                          <a:solidFill>
                            <a:srgbClr val="BB99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Products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Use low carbon fuels (biofuel)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433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3099" strike="noStrike" u="none">
                          <a:solidFill>
                            <a:srgbClr val="FFFFFF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Use low carbon fuels (biofuel)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6295347" y="421531"/>
            <a:ext cx="7034943" cy="171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2"/>
              </a:lnSpc>
            </a:pPr>
            <a:r>
              <a:rPr lang="en-US" b="true" sz="6857" spc="-562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Recommendations</a:t>
            </a:r>
          </a:p>
          <a:p>
            <a:pPr algn="ctr">
              <a:lnSpc>
                <a:spcPts val="6582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A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8800" y="3939817"/>
            <a:ext cx="7315200" cy="2407366"/>
          </a:xfrm>
          <a:custGeom>
            <a:avLst/>
            <a:gdLst/>
            <a:ahLst/>
            <a:cxnLst/>
            <a:rect r="r" b="b" t="t" l="l"/>
            <a:pathLst>
              <a:path h="2407366" w="7315200">
                <a:moveTo>
                  <a:pt x="0" y="0"/>
                </a:moveTo>
                <a:lnTo>
                  <a:pt x="7315200" y="0"/>
                </a:lnTo>
                <a:lnTo>
                  <a:pt x="7315200" y="2407366"/>
                </a:lnTo>
                <a:lnTo>
                  <a:pt x="0" y="240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74136" y="3086100"/>
            <a:ext cx="3329247" cy="4114800"/>
          </a:xfrm>
          <a:custGeom>
            <a:avLst/>
            <a:gdLst/>
            <a:ahLst/>
            <a:cxnLst/>
            <a:rect r="r" b="b" t="t" l="l"/>
            <a:pathLst>
              <a:path h="4114800" w="3329247">
                <a:moveTo>
                  <a:pt x="0" y="0"/>
                </a:moveTo>
                <a:lnTo>
                  <a:pt x="3329248" y="0"/>
                </a:lnTo>
                <a:lnTo>
                  <a:pt x="33292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52208" y="1181100"/>
            <a:ext cx="7034943" cy="93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0"/>
              </a:lnSpc>
            </a:pPr>
            <a:r>
              <a:rPr lang="en-US" b="true" sz="7157" spc="-586">
                <a:solidFill>
                  <a:srgbClr val="EDF1E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Tools used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ED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2943" y="357806"/>
            <a:ext cx="7521930" cy="9571388"/>
            <a:chOff x="0" y="0"/>
            <a:chExt cx="1981084" cy="25208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085" cy="2520859"/>
            </a:xfrm>
            <a:custGeom>
              <a:avLst/>
              <a:gdLst/>
              <a:ahLst/>
              <a:cxnLst/>
              <a:rect r="r" b="b" t="t" l="l"/>
              <a:pathLst>
                <a:path h="2520859" w="1981085">
                  <a:moveTo>
                    <a:pt x="0" y="0"/>
                  </a:moveTo>
                  <a:lnTo>
                    <a:pt x="1981085" y="0"/>
                  </a:lnTo>
                  <a:lnTo>
                    <a:pt x="1981085" y="2520859"/>
                  </a:lnTo>
                  <a:lnTo>
                    <a:pt x="0" y="2520859"/>
                  </a:lnTo>
                  <a:close/>
                </a:path>
              </a:pathLst>
            </a:custGeom>
            <a:solidFill>
              <a:srgbClr val="3A3A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81084" cy="255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3330907" y="9258300"/>
            <a:ext cx="6658294" cy="0"/>
          </a:xfrm>
          <a:prstGeom prst="line">
            <a:avLst/>
          </a:prstGeom>
          <a:ln cap="flat" w="28575">
            <a:solidFill>
              <a:srgbClr val="3A3A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5690370" y="1014413"/>
            <a:ext cx="4298830" cy="0"/>
          </a:xfrm>
          <a:prstGeom prst="line">
            <a:avLst/>
          </a:prstGeom>
          <a:ln cap="flat" w="28575">
            <a:solidFill>
              <a:srgbClr val="3A3A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2706688"/>
            <a:ext cx="7543416" cy="5359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99"/>
              </a:lnSpc>
            </a:pPr>
            <a:r>
              <a:rPr lang="en-US" sz="15999" spc="-1311">
                <a:solidFill>
                  <a:srgbClr val="3A3A5B"/>
                </a:solidFill>
                <a:latin typeface="Public Sans"/>
                <a:ea typeface="Public Sans"/>
                <a:cs typeface="Public Sans"/>
                <a:sym typeface="Public Sans"/>
              </a:rPr>
              <a:t>Thank you very much!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DAG5iAIiPuE</dc:identifier>
  <dcterms:modified xsi:type="dcterms:W3CDTF">2011-08-01T06:04:30Z</dcterms:modified>
  <cp:revision>1</cp:revision>
  <dc:title>Renewable energies</dc:title>
</cp:coreProperties>
</file>